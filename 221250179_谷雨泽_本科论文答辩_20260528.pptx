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57483700" r:id="rId3"/>
  </p:sldMasterIdLst>
  <p:notesMasterIdLst>
    <p:notesMasterId r:id="rId17"/>
  </p:notesMasterIdLst>
  <p:sldIdLst>
    <p:sldId id="35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359" r:id="rId16"/>
  </p:sldIdLst>
  <p:sldSz cx="12192000" cy="6858000"/>
  <p:notesSz cx="6858000" cy="9144000"/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2" y="1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本次研究遵循一个清晰的流水线：首先介绍实验基础，然后分别阐述训练侧和推理侧的优化方法，接着介绍核心的实验设计，最后展示效果评测结果。我们研究的核心思路是采用二析因框架，通过解耦训练和推理两个维度，不仅量化了它们各自的主效应，更重要的是探索了二者之间的交互效应，这也是本研究的核心创新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研究背景。当前，大语言模型已广泛应用于代码生成，但在算法代码生成这一高难度场景下，现有模型普遍存在三大痛点：推理不稳定、规划能力弱、以及适配成本高。因此，本次研究不仅具有填补训练与推理协同机制理论空白的学术价值，还能为智能编程工具的工程化落地提供有力支撑，具有显著的现实意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研究最核心的创新在于采用了训练侧和推理侧的二析因实验框架。我们这样设计的原因有三点：首先，它能将复杂的优化问题解耦为两个独立的维度；其次，它允许我们量化每个维度单独的贡献，也就是主效应；最关键的是，它能帮助我们探索两个维度之间的交互效应，即训练和推理的不同配置组合在一起时，是会产生1+1大于2的协同效果，还是会相互冲突。这正是我们研究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训练侧，我们设计了四种配置。首先是作为基线的Base模型，用于提供零干预下的基准表现。其次是LoRA_code，它通过纯代码监督数据进行微调，旨在提升模型生成代码的准确性。第三种是LoRA_cot_zs，它利用零样本思维链数据，训练模型学习“先推理、后代码”的两步走结构。最后是LoRA_cot_fs，它在学习结构的基础上，还注入了两个高质量的解题示例，让模型学习更多的解题模式，从而增强泛化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在推理侧，我们设计了三种配置。第一种是Direct，即直接生成代码。第二种是Zero-shot CoT，它分两步，先让模型用自然语言思考，再写代码。第三种是Few-shot CoT，它在Zero-shot CoT的基础上，额外提供了两个完整的解题示例，来引导模型生成更可靠的推理过程和代码。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验设计采用了严谨的二因素析因法。训练侧有4种水平，推理侧有3种水平。在剔除掉k值不一致的非法组合后，我们得到了这10组有效的实验。其中，H1是我们的基线模型，H10是我们预期的最优组合。评测过程使用包含1000道算法题的KodCode_eval数据集，以Pass@1/5/10作为核心评价指标，并通过自动化单元测试进行客观判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效果评测阶段，我们主要采用Pass@k系列指标。其中，Pass@1衡量模型单次生成的准确性，是最核心的指标。而Pass@5和Pass@10则衡量模型在多次尝试下的鲁棒性和探索能力。这些指标共同构成了对模型性能的全面评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训练侧的主效应，这里我们将推理侧固定为Direct。实验结果显示，纯代码LoRA微调的效果最好，Pass@1达到了60.5%，相比基线提升了8.1个百分点。有趣的是，用CoT监督的LoRA进行直接生成时，效果反而下降了，这说明CoT监督范式并不适合直接生成任务。同时，少样本CoT微调比零样本略有提升，证明了在训练侧注入示例的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接下来我们分析推理侧的主效应和最优组合。可以看到，无论是Zero-shot还是Few-shot CoT，都能带来性能提升，其中Few-shot CoT的增益尤为稳定。最关键的发现是训练与推理的协同效应：当训练侧和推理侧都采用CoT范式时，产生了1+1&gt;2的效果。我们的最优组合H10，Pass@1达到了67.5%，相比基线H1大幅提升了15.1个百分点，效果非常显著。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研究进行总结、梳理核心创新点并展望未来。在研究总结方面，我们完成了算法代码生成优化的全链路研究，核心结论是LoRA与CoT协同增益最大，同时也提供了标准化的实验框架。核心创新上，我们首创了二因素析因设计，实现了Few-shot CoT对称化、CoT推理工程约束以及端到端可复现流水线。未来展望方面，我们将从模型扩展、推理优化和实验深化三个方向继续探索。我的汇报到此结束，感谢各位老师的聆听与指导！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023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47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550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384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265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2610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908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3726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095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855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079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64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1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1AFF3-465D-4222-AC27-2A030908326F}" type="datetimeFigureOut">
              <a:rPr lang="zh-CN" altLang="en-US" smtClean="0"/>
              <a:t>2026.5.28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0866C-AEDB-450D-9B3E-37EEE2A726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08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01" r:id="rId1"/>
    <p:sldLayoutId id="2157483702" r:id="rId2"/>
    <p:sldLayoutId id="2157483703" r:id="rId3"/>
    <p:sldLayoutId id="2157483704" r:id="rId4"/>
    <p:sldLayoutId id="2157483705" r:id="rId5"/>
    <p:sldLayoutId id="2157483706" r:id="rId6"/>
    <p:sldLayoutId id="2157483707" r:id="rId7"/>
    <p:sldLayoutId id="2157483708" r:id="rId8"/>
    <p:sldLayoutId id="2157483709" r:id="rId9"/>
    <p:sldLayoutId id="2157483710" r:id="rId10"/>
    <p:sldLayoutId id="215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292691"/>
            <a:ext cx="12192000" cy="2302525"/>
          </a:xfrm>
          <a:prstGeom prst="rect">
            <a:avLst/>
          </a:prstGeom>
          <a:solidFill>
            <a:srgbClr val="700F6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4718" y="2118514"/>
            <a:ext cx="11082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</a:pPr>
            <a:r>
              <a:rPr lang="en-US" altLang="zh-CN" sz="4000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altLang="zh-CN" sz="40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CodeGeeX4-ALL-9B </a:t>
            </a:r>
            <a:r>
              <a:rPr lang="en-US" altLang="zh-CN" sz="4000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的算法代码生成模型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6" name="Picture 2" descr="https://ese.nju.edu.cn/_upload/tpl/04/32/1074/template1074/htmlRes/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4" y="239893"/>
            <a:ext cx="1913640" cy="59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/>
          <a:srcRect l="43392"/>
          <a:stretch>
            <a:fillRect/>
          </a:stretch>
        </p:blipFill>
        <p:spPr>
          <a:xfrm>
            <a:off x="4564634" y="5722946"/>
            <a:ext cx="3062729" cy="11350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664652" y="4112567"/>
            <a:ext cx="8862695" cy="16890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学生：</a:t>
            </a:r>
            <a:r>
              <a:rPr lang="zh-CN" altLang="en-US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谷雨泽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指导教师：葛季栋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副教授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2026.5.28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2500" y="165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41500" y="1651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研究框架与流水线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841500" y="2667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实验基础：数据集与理论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41500" y="3683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核心创新：二析因框架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572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4699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841500" y="4699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训练侧配置详解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588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571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841500" y="5715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推理侧配置详解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96000" y="1524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86500" y="165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75500" y="1651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实验设计：10组析因实验矩阵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0" y="2540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286500" y="2667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75500" y="2667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实验评测指标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096000" y="3556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865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75500" y="3683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实验结果：训练侧主效应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096000" y="4572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286500" y="4699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75500" y="4699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实验结果：推理侧主效应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096000" y="5588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286500" y="571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175500" y="5715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970708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4000" b="1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研究框架与流水线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3048000"/>
            <a:ext cx="2032000" cy="330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556000" y="3048000"/>
            <a:ext cx="2032000" cy="330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0" y="3048000"/>
            <a:ext cx="2032000" cy="330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144000" y="3048000"/>
            <a:ext cx="2032000" cy="330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97000" y="3429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5A2A83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📊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191000" y="3429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5A2A83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⚙️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985000" y="3429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5A2A83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🧠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779000" y="3429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5A2A83"/>
                </a:solidFill>
                <a:latin typeface="Segoe UI Emoji"/>
                <a:ea typeface="Segoe UI Emoji"/>
                <a:cs typeface="Segoe UI Emoji"/>
                <a:sym typeface="Segoe UI Emoji"/>
              </a:rPr>
              <a:t>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4445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441E64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实验数据集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构建高质量算法题数据集KodCode，包含题目、代码、单元测试及思维链标注。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683000" y="4445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441E64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训练微调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采用LoRA技术，在训练侧注入代码知识与推理结构。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477000" y="4445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441E64"/>
                </a:solidFill>
                <a:latin typeface="Noto Sans SC"/>
                <a:ea typeface="Noto Sans SC"/>
                <a:cs typeface="Noto Sans SC"/>
                <a:sym typeface="Noto Sans SC"/>
              </a:rPr>
              <a:t>推理增强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采用CoT技术，在推理侧引导模型进行分步思考与规划。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271000" y="4445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441E64"/>
                </a:solidFill>
                <a:latin typeface="Noto Sans SC"/>
                <a:ea typeface="Noto Sans SC"/>
                <a:cs typeface="Noto Sans SC"/>
                <a:sym typeface="Noto Sans SC"/>
              </a:rPr>
              <a:t>效果评测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通过自动化单元测试，以Pass@k为核心指标评估模型性能。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959100" y="4546600"/>
            <a:ext cx="304800" cy="304800"/>
          </a:xfrm>
          <a:prstGeom prst="rightArrow">
            <a:avLst/>
          </a:prstGeom>
          <a:solidFill>
            <a:srgbClr val="8C6E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753100" y="4546600"/>
            <a:ext cx="304800" cy="304800"/>
          </a:xfrm>
          <a:prstGeom prst="rightArrow">
            <a:avLst/>
          </a:prstGeom>
          <a:solidFill>
            <a:srgbClr val="8C6E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47100" y="4546600"/>
            <a:ext cx="304800" cy="304800"/>
          </a:xfrm>
          <a:prstGeom prst="rightArrow">
            <a:avLst/>
          </a:prstGeom>
          <a:solidFill>
            <a:srgbClr val="8C6E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778000"/>
            <a:ext cx="4826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4E9">
                <a:alpha val="100000"/>
              </a:srgbClr>
            </a:solidFill>
            <a:prstDash val="solid"/>
            <a:round/>
          </a:ln>
          <a:effectLst>
            <a:outerShdw blurRad="381000" dist="127000" dir="5400000" algn="tl" rotWithShape="0">
              <a:srgbClr val="5A2A83">
                <a:alpha val="12000"/>
              </a:srgbClr>
            </a:outerShdw>
          </a:effectLst>
        </p:spPr>
        <p:txBody>
          <a:bodyPr vert="horz" wrap="square" lIns="508000" tIns="381000" rIns="381000" bIns="2540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数据集KodCode构建流程</a:t>
            </a:r>
            <a:endParaRPr lang="en-US" sz="1100" dirty="0"/>
          </a:p>
          <a:p>
            <a:pPr marL="0" indent="0" algn="ctr">
              <a:lnSpc>
                <a:spcPct val="133333"/>
              </a:lnSpc>
              <a:spcBef>
                <a:spcPts val="2200"/>
              </a:spcBef>
            </a:pPr>
            <a:r>
              <a:rPr lang="en-US" sz="1500" b="0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❶ </a:t>
            </a:r>
            <a:r>
              <a:rPr lang="en-US" sz="1500" b="0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采集：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原始数据采集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33333"/>
              </a:lnSpc>
              <a:spcBef>
                <a:spcPts val="1400"/>
              </a:spcBef>
            </a:pPr>
            <a:r>
              <a:rPr lang="en-US" sz="1500" b="0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❷ </a:t>
            </a:r>
            <a:r>
              <a:rPr lang="en-US" sz="1500" b="0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过滤：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质量过滤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去重、去噪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marL="0" indent="0" algn="ctr">
              <a:lnSpc>
                <a:spcPct val="133333"/>
              </a:lnSpc>
              <a:spcBef>
                <a:spcPts val="1400"/>
              </a:spcBef>
            </a:pPr>
            <a:r>
              <a:rPr lang="en-US" sz="1500" b="0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❸ </a:t>
            </a:r>
            <a:r>
              <a:rPr lang="en-US" sz="1500" b="0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格式化：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统一函数签名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33333"/>
              </a:lnSpc>
              <a:spcBef>
                <a:spcPts val="1400"/>
              </a:spcBef>
            </a:pPr>
            <a:r>
              <a:rPr lang="en-US" sz="1500" b="0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❹ </a:t>
            </a:r>
            <a:r>
              <a:rPr lang="en-US" sz="1500" b="0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标注：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思维链标注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(GPT-4+人工校验)</a:t>
            </a:r>
          </a:p>
          <a:p>
            <a:pPr marL="0" indent="0" algn="ctr">
              <a:lnSpc>
                <a:spcPct val="133333"/>
              </a:lnSpc>
              <a:spcBef>
                <a:spcPts val="1400"/>
              </a:spcBef>
            </a:pPr>
            <a:r>
              <a:rPr lang="en-US" sz="1500" b="0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❺ </a:t>
            </a:r>
            <a:r>
              <a:rPr lang="en-US" sz="1500" b="0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标签：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构建强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弱标签体系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33333"/>
              </a:lnSpc>
              <a:spcBef>
                <a:spcPts val="1400"/>
              </a:spcBef>
            </a:pPr>
            <a:r>
              <a:rPr lang="en-US" sz="1500" b="0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❻ </a:t>
            </a:r>
            <a:r>
              <a:rPr lang="en-US" sz="1500" b="0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最终数据集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(9k训练 / 1k评测)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1778000"/>
            <a:ext cx="4826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4E9">
                <a:alpha val="100000"/>
              </a:srgbClr>
            </a:solidFill>
            <a:prstDash val="solid"/>
            <a:round/>
          </a:ln>
          <a:effectLst>
            <a:outerShdw blurRad="317500" dist="101600" dir="5400000" algn="tl" rotWithShape="0">
              <a:srgbClr val="5A2A83">
                <a:alpha val="10000"/>
              </a:srgbClr>
            </a:outerShdw>
          </a:effectLst>
        </p:spPr>
        <p:txBody>
          <a:bodyPr vert="horz" wrap="square" lIns="355600" tIns="279400" rIns="355600" bIns="254000" rtlCol="0" anchor="t" anchorCtr="0"/>
          <a:lstStyle/>
          <a:p>
            <a:pPr marL="0" indent="0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LoRA</a:t>
            </a:r>
            <a:r>
              <a:rPr lang="en-US" sz="16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 (Low-Rank Adaptation)</a:t>
            </a:r>
            <a:endParaRPr lang="en-US" sz="1100" dirty="0"/>
          </a:p>
          <a:p>
            <a:pPr marL="0" indent="0">
              <a:lnSpc>
                <a:spcPct val="125000"/>
              </a:lnSpc>
              <a:spcBef>
                <a:spcPts val="1400"/>
              </a:spcBef>
            </a:pPr>
            <a:r>
              <a:rPr lang="en-US" sz="13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冻结大模型基座，仅训练低秩矩阵</a:t>
            </a:r>
            <a:r>
              <a:rPr lang="en-US" sz="1300" b="0" i="0" u="none" strike="noStrike" dirty="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(A/B)</a:t>
            </a:r>
            <a:r>
              <a:rPr lang="en-US" sz="13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模拟权重更新，实现</a:t>
            </a:r>
            <a:r>
              <a:rPr lang="en-US" sz="1300" b="1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参数高效微调</a:t>
            </a:r>
            <a:r>
              <a:rPr lang="en-US" sz="1300" b="0" i="0" u="none" strike="noStrike" dirty="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>
              <a:lnSpc>
                <a:spcPct val="125000"/>
              </a:lnSpc>
              <a:spcBef>
                <a:spcPts val="1400"/>
              </a:spcBef>
            </a:pPr>
            <a:r>
              <a:rPr lang="en-US" sz="13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sz="1300" b="1" i="0" u="none" strike="noStrike" dirty="0" err="1">
                <a:solidFill>
                  <a:srgbClr val="D9534F"/>
                </a:solidFill>
                <a:latin typeface="Noto Sans SC"/>
                <a:ea typeface="Noto Sans SC"/>
                <a:cs typeface="Noto Sans SC"/>
                <a:sym typeface="Noto Sans SC"/>
              </a:rPr>
              <a:t>参数量</a:t>
            </a:r>
            <a:r>
              <a:rPr lang="en-US" sz="1300" b="1" i="0" u="none" strike="noStrike" dirty="0">
                <a:solidFill>
                  <a:srgbClr val="D9534F"/>
                </a:solidFill>
                <a:latin typeface="Noto Sans SC"/>
                <a:ea typeface="Noto Sans SC"/>
                <a:cs typeface="Noto Sans SC"/>
                <a:sym typeface="Noto Sans SC"/>
              </a:rPr>
              <a:t>&lt;1%</a:t>
            </a:r>
            <a:r>
              <a:rPr lang="en-US" sz="1300" b="0" i="0" u="none" strike="noStrike" dirty="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3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低显存占用，可插拔复用</a:t>
            </a:r>
            <a:r>
              <a:rPr lang="en-US" sz="1300" b="0" i="0" u="none" strike="noStrike" dirty="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6350000" y="4191000"/>
            <a:ext cx="4826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4E9">
                <a:alpha val="100000"/>
              </a:srgbClr>
            </a:solidFill>
            <a:prstDash val="solid"/>
            <a:round/>
          </a:ln>
          <a:effectLst>
            <a:outerShdw blurRad="317500" dist="101600" dir="5400000" algn="tl" rotWithShape="0">
              <a:srgbClr val="5A2A83">
                <a:alpha val="10000"/>
              </a:srgbClr>
            </a:outerShdw>
          </a:effectLst>
        </p:spPr>
        <p:txBody>
          <a:bodyPr vert="horz" wrap="square" lIns="355600" tIns="279400" rIns="355600" bIns="254000" rtlCol="0" anchor="t" anchorCtr="0"/>
          <a:lstStyle/>
          <a:p>
            <a:pPr marL="0" indent="0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CoT</a:t>
            </a:r>
            <a:r>
              <a:rPr lang="en-US" sz="16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 (Chain-of-Thought)</a:t>
            </a:r>
            <a:endParaRPr lang="en-US" sz="1100" dirty="0"/>
          </a:p>
          <a:p>
            <a:pPr marL="0" indent="0">
              <a:lnSpc>
                <a:spcPct val="125000"/>
              </a:lnSpc>
              <a:spcBef>
                <a:spcPts val="1400"/>
              </a:spcBef>
            </a:pPr>
            <a:r>
              <a:rPr lang="en-US" sz="13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生成中间推理步骤分解复杂问题，模拟人类思维</a:t>
            </a:r>
            <a:r>
              <a:rPr lang="en-US" sz="1300" b="0" i="0" u="none" strike="noStrike" dirty="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>
              <a:lnSpc>
                <a:spcPct val="125000"/>
              </a:lnSpc>
              <a:spcBef>
                <a:spcPts val="1400"/>
              </a:spcBef>
            </a:pPr>
            <a:r>
              <a:rPr lang="en-US" sz="13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优势：增强模型在</a:t>
            </a:r>
            <a:r>
              <a:rPr lang="en-US" sz="1300" b="1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算术、常识推理</a:t>
            </a:r>
            <a:r>
              <a:rPr lang="en-US" sz="13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等任务上的能力，提升推理可解释性</a:t>
            </a:r>
            <a:r>
              <a:rPr lang="en-US" sz="1300" b="0" i="0" u="none" strike="noStrike" dirty="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CF65A156-BF00-3471-B06F-42A2C2019FD6}"/>
              </a:ext>
            </a:extLst>
          </p:cNvPr>
          <p:cNvSpPr/>
          <p:nvPr/>
        </p:nvSpPr>
        <p:spPr>
          <a:xfrm>
            <a:off x="1016000" y="508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zh-CN" altLang="en-US" sz="4000" b="1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实验基础：数据集与理论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397000"/>
            <a:ext cx="5080000" cy="5207000"/>
          </a:xfrm>
          <a:prstGeom prst="roundRect">
            <a:avLst>
              <a:gd name="adj" fmla="val 3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89000" y="17145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1D95"/>
                </a:solidFill>
                <a:latin typeface="Noto Sans SC"/>
                <a:ea typeface="Noto Sans SC"/>
                <a:cs typeface="Noto Sans SC"/>
                <a:sym typeface="Noto Sans SC"/>
              </a:rPr>
              <a:t>为何采用析因框架？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2730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🧩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解耦双维度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将复杂的“模型优化”问题，解耦为独立的“训练侧优化”和“推理侧优化”两个维度，便于</a:t>
            </a: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独立分析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89000" y="4127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📏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量化主效应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能够单独评估</a:t>
            </a: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LoRA微调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(训练侧) 和</a:t>
            </a:r>
            <a:r>
              <a:rPr lang="en-US" sz="1400" b="1" i="0" u="none" strike="noStrike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CoT推理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(推理侧) 各自带来的性能提升，明确单一技术的</a:t>
            </a: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独立贡献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89000" y="5397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⚙️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探索交互效应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探究训练侧和推理侧不同配置组合下的</a:t>
            </a: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协同增益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sz="1400" b="1" i="0" u="none" strike="noStrike">
                <a:solidFill>
                  <a:srgbClr val="D92D20"/>
                </a:solidFill>
                <a:latin typeface="Noto Sans SC"/>
                <a:ea typeface="Noto Sans SC"/>
                <a:cs typeface="Noto Sans SC"/>
                <a:sym typeface="Noto Sans SC"/>
              </a:rPr>
              <a:t>冲突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，这是本研究的核心创新点。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080000" cy="5207000"/>
          </a:xfrm>
          <a:prstGeom prst="roundRect">
            <a:avLst>
              <a:gd name="adj" fmla="val 3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7145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1D95"/>
                </a:solidFill>
                <a:latin typeface="Noto Sans SC"/>
                <a:ea typeface="Noto Sans SC"/>
                <a:cs typeface="Noto Sans SC"/>
                <a:sym typeface="Noto Sans SC"/>
              </a:rPr>
              <a:t>二析因设计矩阵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3302000"/>
            <a:ext cx="1143000" cy="2921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08750" y="3182957"/>
            <a:ext cx="114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训练侧：</a:t>
            </a:r>
            <a:endParaRPr lang="en-US" altLang="zh-CN" sz="1400" b="1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endParaRPr lang="en-US" b="1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Base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477000" y="4876800"/>
            <a:ext cx="114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LoRA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683500" y="2667000"/>
            <a:ext cx="3556000" cy="508000"/>
          </a:xfrm>
          <a:prstGeom prst="roundRect">
            <a:avLst>
              <a:gd name="adj" fmla="val 1500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493000" y="2655524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推理侧</a:t>
            </a: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   Direct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9461500" y="2667000"/>
            <a:ext cx="171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CoT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683500" y="3302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EDE9FE">
              <a:alpha val="100000"/>
            </a:srgbClr>
          </a:solidFill>
          <a:ln w="12700" cap="flat" cmpd="sng">
            <a:solidFill>
              <a:srgbClr val="DDD6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Base + Direct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61500" y="3302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FEF9C3">
              <a:alpha val="100000"/>
            </a:srgbClr>
          </a:solidFill>
          <a:ln w="12700" cap="flat" cmpd="sng">
            <a:solidFill>
              <a:srgbClr val="FDE68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Base + CoT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83500" y="4826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6B21A8">
              <a:alpha val="100000"/>
            </a:srgbClr>
          </a:solidFill>
          <a:ln w="12700" cap="flat" cmpd="sng">
            <a:solidFill>
              <a:srgbClr val="6B21A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LoRA + Direct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461500" y="4826000"/>
            <a:ext cx="1714500" cy="1397000"/>
          </a:xfrm>
          <a:prstGeom prst="roundRect">
            <a:avLst>
              <a:gd name="adj" fmla="val 7272"/>
            </a:avLst>
          </a:prstGeom>
          <a:solidFill>
            <a:srgbClr val="B45309">
              <a:alpha val="100000"/>
            </a:srgbClr>
          </a:solidFill>
          <a:ln w="12700" cap="flat" cmpd="sng">
            <a:solidFill>
              <a:srgbClr val="B45309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LoRA + CoT</a:t>
            </a:r>
            <a:endParaRPr lang="en-US" sz="1100"/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8F769A17-198C-9BC1-D09E-D62AFDA27A5A}"/>
              </a:ext>
            </a:extLst>
          </p:cNvPr>
          <p:cNvSpPr/>
          <p:nvPr/>
        </p:nvSpPr>
        <p:spPr>
          <a:xfrm>
            <a:off x="1016000" y="2667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核心创新：二析因框架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35000" y="1397000"/>
            <a:ext cx="2413000" cy="5080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25500" y="1651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Base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5500" y="2222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原始基座模型，不进行任何微调，作为实验基线。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5500" y="3429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执行链路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25500" y="3810000"/>
            <a:ext cx="2032000" cy="762000"/>
          </a:xfrm>
          <a:prstGeom prst="roundRect">
            <a:avLst>
              <a:gd name="adj" fmla="val 0"/>
            </a:avLst>
          </a:prstGeom>
          <a:solidFill>
            <a:srgbClr val="F9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365500" y="1397000"/>
            <a:ext cx="2413000" cy="5080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556000" y="1651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LoRA_code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2222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使用纯代码监督数据进行LoRA微调，旨在提升代码生成的正确性。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3429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执行链路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56000" y="3810000"/>
            <a:ext cx="2032000" cy="762000"/>
          </a:xfrm>
          <a:prstGeom prst="roundRect">
            <a:avLst>
              <a:gd name="adj" fmla="val 0"/>
            </a:avLst>
          </a:prstGeom>
          <a:solidFill>
            <a:srgbClr val="F9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 → LoRA训练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1397000"/>
            <a:ext cx="2413000" cy="5080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86500" y="1651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LoRA_cot_zs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2222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使用零样本CoT格式数据进行LoRA微调，旨在让模型学习“先推理后代码”的结构。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3429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执行链路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86500" y="3810000"/>
            <a:ext cx="2032000" cy="762000"/>
          </a:xfrm>
          <a:prstGeom prst="roundRect">
            <a:avLst>
              <a:gd name="adj" fmla="val 0"/>
            </a:avLst>
          </a:prstGeom>
          <a:solidFill>
            <a:srgbClr val="F9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 → LoRA训练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26500" y="1397000"/>
            <a:ext cx="2413000" cy="5080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017000" y="1651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LoRA_cot_fs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17000" y="2222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使用少样本CoT格式数据进行LoRA微调，注入示例知识。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17000" y="3429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执行链路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17000" y="3810000"/>
            <a:ext cx="2032000" cy="762000"/>
          </a:xfrm>
          <a:prstGeom prst="roundRect">
            <a:avLst>
              <a:gd name="adj" fmla="val 0"/>
            </a:avLst>
          </a:prstGeom>
          <a:solidFill>
            <a:srgbClr val="F9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 → LoRA训练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" y="47625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核心Prompt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5500" y="5143500"/>
            <a:ext cx="2032000" cy="1143000"/>
          </a:xfrm>
          <a:prstGeom prst="roundRect">
            <a:avLst>
              <a:gd name="adj" fmla="val 0"/>
            </a:avLst>
          </a:prstGeom>
          <a:solidFill>
            <a:srgbClr val="F9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</a:t>
            </a:r>
            <a:endParaRPr lang="en-US" sz="1050" dirty="0"/>
          </a:p>
        </p:txBody>
      </p:sp>
      <p:sp>
        <p:nvSpPr>
          <p:cNvPr id="25" name="AutoShape 25"/>
          <p:cNvSpPr/>
          <p:nvPr/>
        </p:nvSpPr>
        <p:spPr>
          <a:xfrm>
            <a:off x="3556000" y="47625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核心Prompt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56000" y="5143500"/>
            <a:ext cx="2032000" cy="1143000"/>
          </a:xfrm>
          <a:prstGeom prst="roundRect">
            <a:avLst>
              <a:gd name="adj" fmla="val 0"/>
            </a:avLst>
          </a:prstGeom>
          <a:solidFill>
            <a:srgbClr val="F9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08333"/>
              </a:lnSpc>
              <a:defRPr/>
            </a:pPr>
            <a: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User: {question} Only output the Python code.</a:t>
            </a:r>
            <a:b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05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>
              <a:lnSpc>
                <a:spcPct val="108333"/>
              </a:lnSpc>
              <a:defRPr/>
            </a:pPr>
            <a: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Assistant: {solution}</a:t>
            </a:r>
            <a:endParaRPr lang="en-US" sz="1050" dirty="0"/>
          </a:p>
        </p:txBody>
      </p:sp>
      <p:sp>
        <p:nvSpPr>
          <p:cNvPr id="27" name="AutoShape 27"/>
          <p:cNvSpPr/>
          <p:nvPr/>
        </p:nvSpPr>
        <p:spPr>
          <a:xfrm>
            <a:off x="6286500" y="47625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核心Prompt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91250" y="5143500"/>
            <a:ext cx="2222500" cy="1143000"/>
          </a:xfrm>
          <a:prstGeom prst="roundRect">
            <a:avLst>
              <a:gd name="adj" fmla="val 0"/>
            </a:avLst>
          </a:prstGeom>
          <a:solidFill>
            <a:srgbClr val="F9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00000"/>
              </a:lnSpc>
              <a:defRPr/>
            </a:pPr>
            <a: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User: {question} Think step by step</a:t>
            </a:r>
          </a:p>
          <a:p>
            <a:pPr marL="0" indent="0">
              <a:lnSpc>
                <a:spcPct val="100000"/>
              </a:lnSpc>
              <a:defRPr/>
            </a:pPr>
            <a:b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Assistant: {</a:t>
            </a:r>
            <a:r>
              <a:rPr lang="en-US" sz="105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thought_step</a:t>
            </a:r>
            <a: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}   {code}</a:t>
            </a:r>
            <a:endParaRPr lang="en-US" sz="1050" dirty="0"/>
          </a:p>
        </p:txBody>
      </p:sp>
      <p:sp>
        <p:nvSpPr>
          <p:cNvPr id="29" name="AutoShape 29"/>
          <p:cNvSpPr/>
          <p:nvPr/>
        </p:nvSpPr>
        <p:spPr>
          <a:xfrm>
            <a:off x="9017000" y="47625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核心Prompt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17000" y="5143500"/>
            <a:ext cx="2159000" cy="1235266"/>
          </a:xfrm>
          <a:prstGeom prst="roundRect">
            <a:avLst>
              <a:gd name="adj" fmla="val 0"/>
            </a:avLst>
          </a:prstGeom>
          <a:solidFill>
            <a:srgbClr val="F9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00000"/>
              </a:lnSpc>
              <a:defRPr/>
            </a:pPr>
            <a: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[示例1 User/Assistant]</a:t>
            </a:r>
          </a:p>
          <a:p>
            <a:pPr marL="0" indent="0">
              <a:lnSpc>
                <a:spcPct val="100000"/>
              </a:lnSpc>
              <a:defRPr/>
            </a:pPr>
            <a:b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[示例2 User/Assistant]</a:t>
            </a:r>
          </a:p>
          <a:p>
            <a:pPr marL="0" indent="0">
              <a:lnSpc>
                <a:spcPct val="100000"/>
              </a:lnSpc>
              <a:defRPr/>
            </a:pPr>
            <a:b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5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User: {question} Think step by step</a:t>
            </a:r>
          </a:p>
          <a:p>
            <a:pPr marL="0" indent="0">
              <a:lnSpc>
                <a:spcPct val="100000"/>
              </a:lnSpc>
              <a:defRPr/>
            </a:pPr>
            <a:endParaRPr lang="en-US" sz="1050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defRPr/>
            </a:pPr>
            <a:r>
              <a:rPr lang="en-US" altLang="zh-CN" sz="105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Assistant: {</a:t>
            </a:r>
            <a:r>
              <a:rPr lang="en-US" altLang="zh-CN" sz="1050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thought_step</a:t>
            </a:r>
            <a:r>
              <a:rPr lang="en-US" altLang="zh-CN" sz="105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}   {code}</a:t>
            </a:r>
            <a:endParaRPr lang="en-US" sz="1050" dirty="0"/>
          </a:p>
        </p:txBody>
      </p:sp>
      <p:sp>
        <p:nvSpPr>
          <p:cNvPr id="31" name="AutoShape 2">
            <a:extLst>
              <a:ext uri="{FF2B5EF4-FFF2-40B4-BE49-F238E27FC236}">
                <a16:creationId xmlns:a16="http://schemas.microsoft.com/office/drawing/2014/main" id="{27428847-6927-0FD0-44A9-E48C08E6660B}"/>
              </a:ext>
            </a:extLst>
          </p:cNvPr>
          <p:cNvSpPr/>
          <p:nvPr/>
        </p:nvSpPr>
        <p:spPr>
          <a:xfrm>
            <a:off x="1016000" y="25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zh-CN" alt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训练侧配置详解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460500"/>
            <a:ext cx="3302000" cy="495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286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3302000" cy="762000"/>
          </a:xfrm>
          <a:prstGeom prst="roundRect">
            <a:avLst>
              <a:gd name="adj" fmla="val 20000"/>
            </a:avLst>
          </a:prstGeom>
          <a:solidFill>
            <a:srgbClr val="5A2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87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Direct 直接生成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采用单阶段生成策略，模型不经过任何中间推理步骤，直接将题目映射为代码结果</a:t>
            </a:r>
            <a:r>
              <a:rPr lang="en-US" altLang="zh-CN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该方式简洁高效，但对模型的隐式推理能力要求极高，适用于逻辑简单的编码任务</a:t>
            </a:r>
            <a:r>
              <a:rPr 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952500" y="3810000"/>
            <a:ext cx="2921000" cy="825500"/>
          </a:xfrm>
          <a:prstGeom prst="roundRect">
            <a:avLst>
              <a:gd name="adj" fmla="val 12307"/>
            </a:avLst>
          </a:prstGeom>
          <a:solidFill>
            <a:srgbClr val="5A2A83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79500" y="38735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执行链路：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" y="4191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输入题目 → 模型直接输出最终 Python 代码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762500"/>
            <a:ext cx="2921000" cy="1460500"/>
          </a:xfrm>
          <a:prstGeom prst="roundRect">
            <a:avLst>
              <a:gd name="adj" fmla="val 695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" y="48514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 Prompt 模板：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79500" y="51435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User: {question}</a:t>
            </a:r>
            <a:b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Please only output the complete Python code that solves the problem. Do not include any explanations or additional text.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4445000" y="1460500"/>
            <a:ext cx="3302000" cy="495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286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445000" y="1460500"/>
            <a:ext cx="3302000" cy="762000"/>
          </a:xfrm>
          <a:prstGeom prst="roundRect">
            <a:avLst>
              <a:gd name="adj" fmla="val 20000"/>
            </a:avLst>
          </a:prstGeom>
          <a:solidFill>
            <a:srgbClr val="5A2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445000" y="1587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Zero-shot CoT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241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引入两阶段链式思维机制。首先引导模型生成自然语言的解题逻辑，将复杂问题拆解为可执行步骤；随后基于该推理过程，再转化为具体的代码实现</a:t>
            </a:r>
            <a:r>
              <a:rPr lang="en-US" altLang="zh-CN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显著提升逻辑一致性</a:t>
            </a:r>
            <a:r>
              <a:rPr 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4635500" y="3810000"/>
            <a:ext cx="2921000" cy="825500"/>
          </a:xfrm>
          <a:prstGeom prst="roundRect">
            <a:avLst>
              <a:gd name="adj" fmla="val 12307"/>
            </a:avLst>
          </a:prstGeom>
          <a:solidFill>
            <a:srgbClr val="5A2A83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762500" y="38735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执行链路：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762500" y="4191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题目输入 → 生成推理步骤 → 转化为代码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35500" y="4762500"/>
            <a:ext cx="2921000" cy="1460500"/>
          </a:xfrm>
          <a:prstGeom prst="roundRect">
            <a:avLst>
              <a:gd name="adj" fmla="val 695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762500" y="48514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 Prompt 模板：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762500" y="51435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User: {question}</a:t>
            </a:r>
            <a:b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Think step by step to solve this problem...</a:t>
            </a:r>
            <a:b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Now implement the solution with Python code based on your reasoning.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8128000" y="1460500"/>
            <a:ext cx="3302000" cy="4953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286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28000" y="1460500"/>
            <a:ext cx="3302000" cy="762000"/>
          </a:xfrm>
          <a:prstGeom prst="roundRect">
            <a:avLst>
              <a:gd name="adj" fmla="val 20000"/>
            </a:avLst>
          </a:prstGeom>
          <a:solidFill>
            <a:srgbClr val="5A2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128000" y="1587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Few-shot CoT (k=2)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18500" y="241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Zero-shot CoT 的进阶增强版。在 Prompt 中植入 2 个高质量的“题目-推理-代码”完整示例作为先验知识，建立上下文锚点，帮助模型学习正确的解题范式，尤其适合复杂算法逻辑的推导。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3810000"/>
            <a:ext cx="2921000" cy="825500"/>
          </a:xfrm>
          <a:prstGeom prst="roundRect">
            <a:avLst>
              <a:gd name="adj" fmla="val 12307"/>
            </a:avLst>
          </a:prstGeom>
          <a:solidFill>
            <a:srgbClr val="5A2A83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445500" y="38735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执行链路：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445500" y="4191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示例引导 → 题目 → 逻辑推理 → 代码实现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318500" y="4762500"/>
            <a:ext cx="2921000" cy="1460500"/>
          </a:xfrm>
          <a:prstGeom prst="roundRect">
            <a:avLst>
              <a:gd name="adj" fmla="val 695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445500" y="48514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 Prompt 模板：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445500" y="51435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[Example 1: Q/A + Reasoning + Code]</a:t>
            </a:r>
            <a:b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[Example 2: Q/A + Reasoning + Code]</a:t>
            </a:r>
            <a:b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User: {question} Follow the examples above, think step by step then write code.</a:t>
            </a:r>
            <a:endParaRPr lang="en-US" sz="1100" dirty="0"/>
          </a:p>
        </p:txBody>
      </p:sp>
      <p:sp>
        <p:nvSpPr>
          <p:cNvPr id="33" name="AutoShape 2">
            <a:extLst>
              <a:ext uri="{FF2B5EF4-FFF2-40B4-BE49-F238E27FC236}">
                <a16:creationId xmlns:a16="http://schemas.microsoft.com/office/drawing/2014/main" id="{2FFDA83F-DF93-2D76-070B-AB23EA3D14F9}"/>
              </a:ext>
            </a:extLst>
          </p:cNvPr>
          <p:cNvSpPr/>
          <p:nvPr/>
        </p:nvSpPr>
        <p:spPr>
          <a:xfrm>
            <a:off x="1016000" y="25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4000" b="1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推理侧配置详解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397000"/>
            <a:ext cx="3556000" cy="4699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17500" dist="50800" dir="5400000" algn="tl" rotWithShape="0">
              <a:srgbClr val="5A2A83">
                <a:alpha val="12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实验设计流程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460500" cy="1270000"/>
          </a:xfrm>
          <a:prstGeom prst="roundRect">
            <a:avLst>
              <a:gd name="adj" fmla="val 8000"/>
            </a:avLst>
          </a:prstGeom>
          <a:solidFill>
            <a:srgbClr val="5A2A83">
              <a:alpha val="8000"/>
            </a:srgbClr>
          </a:solidFill>
          <a:ln w="12700" cap="flat" cmpd="sng">
            <a:solidFill>
              <a:srgbClr val="5A2A83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训练侧 (4水平)</a:t>
            </a:r>
            <a:b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Base</a:t>
            </a:r>
            <a:b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LoRA_code</a:t>
            </a:r>
            <a:b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LoRA_cot_zs</a:t>
            </a:r>
            <a:b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LoRA_cot_fs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667000" y="2286000"/>
            <a:ext cx="1460500" cy="1270000"/>
          </a:xfrm>
          <a:prstGeom prst="roundRect">
            <a:avLst>
              <a:gd name="adj" fmla="val 8000"/>
            </a:avLst>
          </a:prstGeom>
          <a:solidFill>
            <a:srgbClr val="5A2A83">
              <a:alpha val="8000"/>
            </a:srgbClr>
          </a:solidFill>
          <a:ln w="12700" cap="flat" cmpd="sng">
            <a:solidFill>
              <a:srgbClr val="5A2A83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推理侧 (3水平)</a:t>
            </a:r>
            <a:b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Direct</a:t>
            </a:r>
            <a:b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Zero-shot CoT</a:t>
            </a:r>
            <a:b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Few-shot CoT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746500"/>
            <a:ext cx="3111500" cy="635000"/>
          </a:xfrm>
          <a:prstGeom prst="roundRect">
            <a:avLst>
              <a:gd name="adj" fmla="val 16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0D3D6">
                <a:alpha val="10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笛卡尔积 → 12种组合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489449"/>
            <a:ext cx="3111500" cy="952500"/>
          </a:xfrm>
          <a:prstGeom prst="roundRect">
            <a:avLst>
              <a:gd name="adj" fmla="val 10666"/>
            </a:avLst>
          </a:prstGeom>
          <a:solidFill>
            <a:srgbClr val="FFF7E6">
              <a:alpha val="100000"/>
            </a:srgbClr>
          </a:solidFill>
          <a:ln w="12700" cap="flat" cmpd="sng">
            <a:solidFill>
              <a:srgbClr val="D4AF37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000" b="1" i="0" u="none" strike="noStrike" dirty="0" err="1">
                <a:solidFill>
                  <a:srgbClr val="8C6200"/>
                </a:solidFill>
                <a:latin typeface="Noto Sans SC"/>
                <a:ea typeface="Noto Sans SC"/>
                <a:cs typeface="Noto Sans SC"/>
                <a:sym typeface="Noto Sans SC"/>
              </a:rPr>
              <a:t>约束</a:t>
            </a:r>
            <a:r>
              <a:rPr lang="en-US" sz="1000" b="1" i="0" u="none" strike="noStrike" dirty="0">
                <a:solidFill>
                  <a:srgbClr val="8C62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000" b="1" dirty="0">
                <a:solidFill>
                  <a:srgbClr val="8C620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示例数</a:t>
            </a:r>
            <a:r>
              <a:rPr lang="en-US" sz="1000" b="1" i="0" u="none" strike="noStrike" dirty="0" err="1">
                <a:solidFill>
                  <a:srgbClr val="8C6200"/>
                </a:solidFill>
                <a:latin typeface="Noto Sans SC"/>
                <a:ea typeface="Noto Sans SC"/>
                <a:cs typeface="Noto Sans SC"/>
                <a:sym typeface="Noto Sans SC"/>
              </a:rPr>
              <a:t>一致</a:t>
            </a:r>
            <a:br>
              <a:rPr lang="en-US" sz="1000" b="0" i="0" u="none" strike="noStrike" dirty="0">
                <a:solidFill>
                  <a:srgbClr val="8C620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 dirty="0" err="1">
                <a:solidFill>
                  <a:srgbClr val="8C6200"/>
                </a:solidFill>
                <a:latin typeface="Noto Sans SC"/>
                <a:ea typeface="Noto Sans SC"/>
                <a:cs typeface="Noto Sans SC"/>
                <a:sym typeface="Noto Sans SC"/>
              </a:rPr>
              <a:t>剔除</a:t>
            </a:r>
            <a:r>
              <a:rPr lang="en-US" sz="1000" b="1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LoRA_cot_fs</a:t>
            </a:r>
            <a:r>
              <a:rPr lang="en-US" sz="1000" b="0" i="0" u="none" strike="noStrike" dirty="0" err="1">
                <a:solidFill>
                  <a:srgbClr val="8C6200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000" b="1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Direct</a:t>
            </a:r>
            <a:r>
              <a:rPr lang="en-US" sz="1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/Zero-shot </a:t>
            </a:r>
            <a:r>
              <a:rPr lang="en-US" sz="1000" b="1" i="0" u="none" strike="noStrike" dirty="0" err="1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CoT</a:t>
            </a:r>
            <a:r>
              <a:rPr lang="en-US" sz="1000" b="0" i="0" u="none" strike="noStrike" dirty="0" err="1">
                <a:solidFill>
                  <a:srgbClr val="8C6200"/>
                </a:solidFill>
                <a:latin typeface="Noto Sans SC"/>
                <a:ea typeface="Noto Sans SC"/>
                <a:cs typeface="Noto Sans SC"/>
                <a:sym typeface="Noto Sans SC"/>
              </a:rPr>
              <a:t>的组合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5588000"/>
            <a:ext cx="3111500" cy="444500"/>
          </a:xfrm>
          <a:prstGeom prst="roundRect">
            <a:avLst>
              <a:gd name="adj" fmla="val 22857"/>
            </a:avLst>
          </a:prstGeom>
          <a:solidFill>
            <a:srgbClr val="5A2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输出：10组有效实验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057364">
            <a:off x="1676400" y="36388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11" name="Connector 11"/>
          <p:cNvCxnSpPr/>
          <p:nvPr/>
        </p:nvCxnSpPr>
        <p:spPr>
          <a:xfrm rot="5057364">
            <a:off x="3327400" y="3638867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13" name="Connector 13"/>
          <p:cNvCxnSpPr/>
          <p:nvPr/>
        </p:nvCxnSpPr>
        <p:spPr>
          <a:xfrm rot="3806096">
            <a:off x="2552700" y="5557749"/>
            <a:ext cx="2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4" name="AutoShape 14"/>
          <p:cNvSpPr/>
          <p:nvPr/>
        </p:nvSpPr>
        <p:spPr>
          <a:xfrm>
            <a:off x="4826000" y="1397000"/>
            <a:ext cx="6096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17500" dist="50800" dir="5400000" algn="tl" rotWithShape="0">
              <a:srgbClr val="5A2A83">
                <a:alpha val="12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716483"/>
              </p:ext>
            </p:extLst>
          </p:nvPr>
        </p:nvGraphicFramePr>
        <p:xfrm>
          <a:off x="5092763" y="1470660"/>
          <a:ext cx="5588000" cy="45516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训练侧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推理侧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H1 (基线)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Direct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Zero-shot CoT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Few-shot CoT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LoRA_code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Direct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LoRA_code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Zero-shot CoT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LoRA_code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Few-shot CoT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LoRA_cot_zs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Direct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LoRA_cot_zs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Zero-shot CoT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LoRA_cot_fs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Direct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8C62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H10 (最优)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F3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8C62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LoRA_cot_fs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F3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8C62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Few-shot </a:t>
                      </a:r>
                      <a:r>
                        <a:rPr lang="en-US" sz="1200" b="1" i="0" u="none" strike="noStrike" dirty="0" err="1">
                          <a:solidFill>
                            <a:srgbClr val="8C62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CoT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AF37">
                        <a:alpha val="1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8" name="AutoShape 2">
            <a:extLst>
              <a:ext uri="{FF2B5EF4-FFF2-40B4-BE49-F238E27FC236}">
                <a16:creationId xmlns:a16="http://schemas.microsoft.com/office/drawing/2014/main" id="{1CEF01A0-C51E-CD7F-E1BF-C5720899EB57}"/>
              </a:ext>
            </a:extLst>
          </p:cNvPr>
          <p:cNvSpPr/>
          <p:nvPr/>
        </p:nvSpPr>
        <p:spPr>
          <a:xfrm>
            <a:off x="1016000" y="25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06 </a:t>
            </a:r>
            <a:r>
              <a:rPr lang="zh-CN" alt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实验设计：</a:t>
            </a:r>
            <a:r>
              <a:rPr lang="en-US" altLang="zh-CN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zh-CN" alt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组析因实验矩阵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524000"/>
            <a:ext cx="33782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A2A8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78200" cy="50800"/>
          </a:xfrm>
          <a:prstGeom prst="roundRect">
            <a:avLst>
              <a:gd name="adj" fmla="val 0"/>
            </a:avLst>
          </a:prstGeom>
          <a:solidFill>
            <a:srgbClr val="5A2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78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238500"/>
            <a:ext cx="3378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Pass@1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937000"/>
            <a:ext cx="3124200" cy="10795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40386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模型在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单次生成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中即产生正确代码的概率，反映模型首次尝试解决问题的即时有效性与精准度。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5207000"/>
            <a:ext cx="3124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核心衡量模型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单次生成的准确性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可靠性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，是评估代码生成模型基础性能最直观、最严格的关键指标。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1524000"/>
            <a:ext cx="33782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A2A8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94200" y="1524000"/>
            <a:ext cx="3378200" cy="50800"/>
          </a:xfrm>
          <a:prstGeom prst="roundRect">
            <a:avLst>
              <a:gd name="adj" fmla="val 0"/>
            </a:avLst>
          </a:prstGeom>
          <a:solidFill>
            <a:srgbClr val="5A2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94200" y="1778000"/>
            <a:ext cx="3378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94200" y="3238500"/>
            <a:ext cx="3378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Pass@5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21200" y="3937000"/>
            <a:ext cx="3124200" cy="10795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648200" y="40386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模型在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最多5次生成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内产生正确代码的概率，给予模型少量的重试机会，以覆盖单次随机性误差。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21200" y="5207000"/>
            <a:ext cx="3124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体现模型的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鲁棒性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探索能力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，反映模型在面对复杂问题时，通过有限次调整策略解决问题的潜力。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26400" y="1524000"/>
            <a:ext cx="33782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5A2A8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26400" y="1524000"/>
            <a:ext cx="3378200" cy="50800"/>
          </a:xfrm>
          <a:prstGeom prst="roundRect">
            <a:avLst>
              <a:gd name="adj" fmla="val 0"/>
            </a:avLst>
          </a:prstGeom>
          <a:solidFill>
            <a:srgbClr val="5A2A8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26400" y="1778000"/>
            <a:ext cx="3378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26400" y="3238500"/>
            <a:ext cx="3378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Pass@10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53400" y="3937000"/>
            <a:ext cx="3124200" cy="1079500"/>
          </a:xfrm>
          <a:prstGeom prst="roundRect">
            <a:avLst>
              <a:gd name="adj" fmla="val 0"/>
            </a:avLst>
          </a:prstGeom>
          <a:solidFill>
            <a:srgbClr val="5A2A83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280400" y="40386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模型在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最多10次生成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内产生正确代码的概率，显著扩大了搜索范围，更贴近实际开发中的调试过程。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53400" y="5207000"/>
            <a:ext cx="3124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进一步衡量模型在更大搜索空间下的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潜力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，验证算法在多次迭代与多样化尝试中的有效性与上限。</a:t>
            </a:r>
            <a:endParaRPr lang="en-US" sz="1100"/>
          </a:p>
        </p:txBody>
      </p:sp>
      <p:sp>
        <p:nvSpPr>
          <p:cNvPr id="24" name="AutoShape 2">
            <a:extLst>
              <a:ext uri="{FF2B5EF4-FFF2-40B4-BE49-F238E27FC236}">
                <a16:creationId xmlns:a16="http://schemas.microsoft.com/office/drawing/2014/main" id="{F8DE6EE2-F18E-8A8C-AE24-2BDBC90F8766}"/>
              </a:ext>
            </a:extLst>
          </p:cNvPr>
          <p:cNvSpPr/>
          <p:nvPr/>
        </p:nvSpPr>
        <p:spPr>
          <a:xfrm>
            <a:off x="1016000" y="3048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07 </a:t>
            </a:r>
            <a:r>
              <a:rPr lang="zh-CN" alt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实验评测指标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62000" y="1397000"/>
          <a:ext cx="5588000" cy="311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训练侧策略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推理侧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P@1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P@5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P@10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 (Baseline)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Direct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52.40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67.10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72.80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5A2A8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LoRA_code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Direct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5A2A8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60.50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73.80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78.90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LoRA_cot_zs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Direct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57.20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70.80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76.40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LoRA_cot_fs(k=2)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Direct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58.50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71.90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77.30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524000"/>
            <a:ext cx="4318000" cy="3302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762000" y="4953000"/>
            <a:ext cx="330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190500" tIns="190500" rIns="190500" bIns="1270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⚙️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LoRA主效应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H4 vs H1 →</a:t>
            </a:r>
            <a:r>
              <a:rPr lang="en-US" sz="16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+8.1%</a:t>
            </a:r>
          </a:p>
        </p:txBody>
      </p:sp>
      <p:sp>
        <p:nvSpPr>
          <p:cNvPr id="6" name="AutoShape 6"/>
          <p:cNvSpPr/>
          <p:nvPr/>
        </p:nvSpPr>
        <p:spPr>
          <a:xfrm>
            <a:off x="4445000" y="4953000"/>
            <a:ext cx="330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190500" tIns="190500" rIns="190500" bIns="1270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CoT监督开销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H7 vs H4 →</a:t>
            </a:r>
            <a:r>
              <a:rPr lang="en-US" sz="16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-3.3%</a:t>
            </a:r>
          </a:p>
        </p:txBody>
      </p:sp>
      <p:sp>
        <p:nvSpPr>
          <p:cNvPr id="7" name="AutoShape 7"/>
          <p:cNvSpPr/>
          <p:nvPr/>
        </p:nvSpPr>
        <p:spPr>
          <a:xfrm>
            <a:off x="8128000" y="4953000"/>
            <a:ext cx="330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190500" tIns="190500" rIns="190500" bIns="1270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➕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训练注入示例效应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H9 vs H7 →</a:t>
            </a:r>
            <a:r>
              <a:rPr lang="en-US" sz="16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+1.3%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BF6A9A3-0260-3F9A-0387-207A7563BE34}"/>
              </a:ext>
            </a:extLst>
          </p:cNvPr>
          <p:cNvSpPr/>
          <p:nvPr/>
        </p:nvSpPr>
        <p:spPr>
          <a:xfrm>
            <a:off x="1016000" y="25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08 </a:t>
            </a:r>
            <a:r>
              <a:rPr lang="zh-CN" alt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实验结果：训练侧主效应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413000" y="1206500"/>
          <a:ext cx="7419256" cy="35325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04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1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00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编号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训练侧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推理侧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P@1(%)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P@5(%)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P@10(%)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00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H2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Zero-shot CoT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54.10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68.90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74.50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00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H3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Few-shot CoT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58.30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72.60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77.80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00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H5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LoRA_code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Zero-shot CoT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62.10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75.20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80.20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00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H6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LoRA_code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Few-shot CoT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65.80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78.20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82.90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EF3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00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H8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LoRA_cot_zs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Zero-shot CoT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63.90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76.60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81.50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50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5A2A8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H10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LoRA_cot_fs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Few-shot CoT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039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67.50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039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79.50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039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84.00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2A83">
                        <a:alpha val="1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762000" y="4953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016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190500" tIns="190500" rIns="190500" bIns="1905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🧠</a:t>
            </a:r>
            <a:r>
              <a:rPr lang="en-US" sz="15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推理侧主效应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H3 vs H2 →</a:t>
            </a: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+4.2%</a:t>
            </a:r>
          </a:p>
        </p:txBody>
      </p:sp>
      <p:sp>
        <p:nvSpPr>
          <p:cNvPr id="5" name="AutoShape 5"/>
          <p:cNvSpPr/>
          <p:nvPr/>
        </p:nvSpPr>
        <p:spPr>
          <a:xfrm>
            <a:off x="4508500" y="4953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016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190500" tIns="190500" rIns="190500" bIns="1905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🤝</a:t>
            </a:r>
            <a:r>
              <a:rPr lang="en-US" sz="15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协同效应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H10 vs H1 →</a:t>
            </a: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+15.1%</a:t>
            </a:r>
          </a:p>
        </p:txBody>
      </p:sp>
      <p:sp>
        <p:nvSpPr>
          <p:cNvPr id="6" name="AutoShape 6"/>
          <p:cNvSpPr/>
          <p:nvPr/>
        </p:nvSpPr>
        <p:spPr>
          <a:xfrm>
            <a:off x="8255000" y="4953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016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190500" tIns="190500" rIns="190500" bIns="19050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⚖️</a:t>
            </a: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正交效应验证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(H8-H7)-(H2-H1) =</a:t>
            </a:r>
            <a:r>
              <a:rPr lang="en-US" sz="13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+5.0pp</a:t>
            </a:r>
          </a:p>
          <a:p>
            <a:pPr marL="0" indent="0" algn="ctr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证明CoT监督与推理存在协同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6908C8E5-EB1C-E458-60EC-4FBAA8E54D42}"/>
              </a:ext>
            </a:extLst>
          </p:cNvPr>
          <p:cNvSpPr/>
          <p:nvPr/>
        </p:nvSpPr>
        <p:spPr>
          <a:xfrm>
            <a:off x="1079500" y="190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r>
              <a:rPr lang="en-US" sz="4000" b="1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4000" b="1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实验结果：推理侧主效应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2032000"/>
            <a:ext cx="76200" cy="4064000"/>
          </a:xfrm>
          <a:prstGeom prst="roundRect">
            <a:avLst>
              <a:gd name="adj" fmla="val 0"/>
            </a:avLst>
          </a:prstGeom>
          <a:solidFill>
            <a:srgbClr val="5A2A83">
              <a:alpha val="100000"/>
            </a:srgbClr>
          </a:solidFill>
          <a:ln cap="flat" cmpd="sng">
            <a:solidFill>
              <a:srgbClr val="44176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3048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Aft>
                <a:spcPts val="1600"/>
              </a:spcAft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研究总结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全链路研究：完成了算法代码生成优化的全链路研究。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核心结论：LoRA提升稳定性，CoT增强推理，二者</a:t>
            </a:r>
            <a:r>
              <a:rPr lang="en-US" sz="14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协同增益最大（+15.1%）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工程价值：提供了标准化的实验框架和实证结论。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4318000" y="2032000"/>
            <a:ext cx="76200" cy="4064000"/>
          </a:xfrm>
          <a:prstGeom prst="roundRect">
            <a:avLst>
              <a:gd name="adj" fmla="val 0"/>
            </a:avLst>
          </a:prstGeom>
          <a:solidFill>
            <a:srgbClr val="5A2A83">
              <a:alpha val="100000"/>
            </a:srgbClr>
          </a:solidFill>
          <a:ln cap="flat" cmpd="sng">
            <a:solidFill>
              <a:srgbClr val="44176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572000" y="2032000"/>
            <a:ext cx="3048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Aft>
                <a:spcPts val="1600"/>
              </a:spcAft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核心创新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首创二因素析因设计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：解耦训练/推理，量化交互效应。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Few-shot CoT对称化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：训练/推理k一致，保证分布对齐。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CoT推理工程约束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：三重约束，保障实验稳定。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端到端可复现流水线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：全流程脚本化，一键复现。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874000" y="2032000"/>
            <a:ext cx="76200" cy="4064000"/>
          </a:xfrm>
          <a:prstGeom prst="roundRect">
            <a:avLst>
              <a:gd name="adj" fmla="val 0"/>
            </a:avLst>
          </a:prstGeom>
          <a:solidFill>
            <a:srgbClr val="5A2A83">
              <a:alpha val="100000"/>
            </a:srgbClr>
          </a:solidFill>
          <a:ln cap="flat" cmpd="sng">
            <a:solidFill>
              <a:srgbClr val="44176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128000" y="2032000"/>
            <a:ext cx="2794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Aft>
                <a:spcPts val="1600"/>
              </a:spcAft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未来展望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模型扩展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：探索更大规模的模型和多基座对比。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推理优化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：研究自适应k值选择、闭环自调试等高级策略。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实验深化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：进行更深入的失效模式归因分析和超参数消融。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325021C9-563B-1867-82CA-AD54C2882127}"/>
              </a:ext>
            </a:extLst>
          </p:cNvPr>
          <p:cNvSpPr/>
          <p:nvPr/>
        </p:nvSpPr>
        <p:spPr>
          <a:xfrm>
            <a:off x="1016000" y="41275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4000" b="1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4000" b="1" i="0" u="none" strike="noStrike" dirty="0">
                <a:solidFill>
                  <a:srgbClr val="5A2A8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/>
          <p:cNvSpPr/>
          <p:nvPr/>
        </p:nvSpPr>
        <p:spPr>
          <a:xfrm>
            <a:off x="-367632" y="613736"/>
            <a:ext cx="12927262" cy="823275"/>
          </a:xfrm>
          <a:prstGeom prst="roundRect">
            <a:avLst/>
          </a:prstGeom>
          <a:solidFill>
            <a:srgbClr val="700F6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7" y="202436"/>
            <a:ext cx="1353052" cy="164587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815" y="5665135"/>
            <a:ext cx="5144368" cy="107923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54074" y="3329798"/>
            <a:ext cx="188384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solidFill>
                  <a:srgbClr val="700F6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致谢</a:t>
            </a:r>
            <a:endParaRPr lang="zh-CN" altLang="en-US" sz="3200" b="1" dirty="0">
              <a:solidFill>
                <a:srgbClr val="700F6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8CE0EF0FEBE87CF0021B9AF1A41063455423E5587A5188EB40C1E2D0C243E64B" val="[{&quot;GradientColorId&quot;:&quot;&quot;,&quot;IsFree&quot;:true,&quot;IsGradient&quot;:false,&quot;ImagePath&quot;:&quot;&quot;,&quot;GradientColor&quot;:null,&quot;SimpleColor&quot;:&quot;#FFFFFF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1461</Words>
  <Application>Microsoft Office PowerPoint</Application>
  <PresentationFormat>宽屏</PresentationFormat>
  <Paragraphs>309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Noto Sans SC</vt:lpstr>
      <vt:lpstr>Arial</vt:lpstr>
      <vt:lpstr>Segoe UI Emoji</vt:lpstr>
      <vt:lpstr>等线</vt:lpstr>
      <vt:lpstr>等线 Light</vt:lpstr>
      <vt:lpstr>黑体</vt:lpstr>
      <vt:lpstr>微软雅黑</vt:lpstr>
      <vt:lpstr>Office 主题​​</vt:lpstr>
      <vt:lpstr>默认主题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GDC</dc:creator>
  <cp:lastModifiedBy>雨泽 谷</cp:lastModifiedBy>
  <cp:revision>10</cp:revision>
  <dcterms:modified xsi:type="dcterms:W3CDTF">2026-05-28T06:20:33Z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{"Label":"1","ContentProducer":"001191110102MACQD9K64010000","ProduceID":"7644658291620383693","ReservedCode1":"","ContentPropagator":"","PropagateID":"","ReservedCode2":""}</vt:lpwstr>
  </property>
</Properties>
</file>